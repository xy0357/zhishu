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438150" y="285750"/>
            <a:ext cx="11315700" cy="6267450"/>
          </a:xfrm>
          <a:prstGeom prst="roundRect">
            <a:avLst>
              <a:gd name="adj" fmla="val 2432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74295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 i="0">
                <a:solidFill>
                  <a:srgbClr val="12314D"/>
                </a:solidFill>
              </a:defRPr>
            </a:pPr>
            <a:r>
              <a:rPr sz="4500" b="1" i="0">
                <a:solidFill>
                  <a:srgbClr val="12314D"/>
                </a:solidFill>
              </a:rPr>
              <a:t>知枢</a:t>
            </a:r>
            <a:endParaRPr sz="4500" b="1" i="0">
              <a:solidFill>
                <a:srgbClr val="12314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4668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 i="0">
                <a:solidFill>
                  <a:srgbClr val="1F2F3D"/>
                </a:solidFill>
              </a:defRPr>
            </a:pPr>
            <a:r>
              <a:rPr sz="3000" b="1" i="0">
                <a:solidFill>
                  <a:srgbClr val="1F2F3D"/>
                </a:solidFill>
              </a:rPr>
              <a:t>企业知识资产管理与智能检索平台</a:t>
            </a:r>
            <a:endParaRPr sz="3000" b="1" i="0">
              <a:solidFill>
                <a:srgbClr val="1F2F3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6860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5D7287"/>
                </a:solidFill>
              </a:defRPr>
            </a:pPr>
            <a:r>
              <a:rPr sz="1800" b="0" i="0">
                <a:solidFill>
                  <a:srgbClr val="5D7287"/>
                </a:solidFill>
              </a:rPr>
              <a:t>围绕 MySQL 主链路，完成知识管理、检索问答、证据追溯与 Agent 审计闭环。</a:t>
            </a:r>
            <a:endParaRPr sz="18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4229100"/>
            <a:ext cx="1447800" cy="381000"/>
          </a:xfrm>
          <a:prstGeom prst="roundRect">
            <a:avLst>
              <a:gd name="adj" fmla="val 50000"/>
            </a:avLst>
          </a:prstGeom>
          <a:solidFill>
            <a:srgbClr val="F8ECD7"/>
          </a:solidFill>
          <a:ln w="0">
            <a:solidFill>
              <a:srgbClr val="F8ECD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38D3B"/>
                </a:solidFill>
              </a:defRPr>
            </a:pPr>
            <a:r>
              <a:rPr sz="1200" b="1">
                <a:solidFill>
                  <a:srgbClr val="C38D3B"/>
                </a:solidFill>
              </a:rPr>
              <a:t>课程汇报</a:t>
            </a:r>
            <a:endParaRPr sz="1200" b="1">
              <a:solidFill>
                <a:srgbClr val="C38D3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476500" y="422910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MySQL · Rust · React · AI</a:t>
            </a:r>
            <a:endParaRPr sz="1200" b="1">
              <a:solidFill>
                <a:srgbClr val="2F6FB9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3605" r="3605"/>
          <a:stretch>
            <a:fillRect/>
          </a:stretch>
        </p:blipFill>
        <p:spPr>
          <a:xfrm>
            <a:off x="6381750" y="742950"/>
            <a:ext cx="4762500" cy="2724150"/>
          </a:xfrm>
          <a:prstGeom prst="roundRect">
            <a:avLst>
              <a:gd name="adj" fmla="val 5594"/>
            </a:avLst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8173" b="8173"/>
          <a:stretch>
            <a:fillRect/>
          </a:stretch>
        </p:blipFill>
        <p:spPr>
          <a:xfrm>
            <a:off x="6381750" y="3695700"/>
            <a:ext cx="4762500" cy="2114550"/>
          </a:xfrm>
          <a:prstGeom prst="roundRect">
            <a:avLst>
              <a:gd name="adj" fmla="val 7207"/>
            </a:avLst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02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汇报结构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目录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885950"/>
            <a:ext cx="10553700" cy="36957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1123950" y="21526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01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81200" y="21336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F2F3D"/>
                </a:solidFill>
              </a:defRPr>
            </a:pPr>
            <a:r>
              <a:rPr sz="1800" b="1" i="0">
                <a:solidFill>
                  <a:srgbClr val="1F2F3D"/>
                </a:solidFill>
              </a:rPr>
              <a:t>01 系统需求分析</a:t>
            </a:r>
            <a:endParaRPr sz="1800" b="1" i="0">
              <a:solidFill>
                <a:srgbClr val="1F2F3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25146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23950" y="26479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DFF5F5"/>
          </a:solidFill>
          <a:ln w="0">
            <a:solidFill>
              <a:srgbClr val="DFF5F5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8A8A"/>
                </a:solidFill>
              </a:defRPr>
            </a:pPr>
            <a:r>
              <a:rPr sz="1200" b="1">
                <a:solidFill>
                  <a:srgbClr val="1F8A8A"/>
                </a:solidFill>
              </a:rPr>
              <a:t>02</a:t>
            </a:r>
            <a:endParaRPr sz="1200" b="1">
              <a:solidFill>
                <a:srgbClr val="1F8A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81200" y="26289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F2F3D"/>
                </a:solidFill>
              </a:defRPr>
            </a:pPr>
            <a:r>
              <a:rPr sz="1800" b="1" i="0">
                <a:solidFill>
                  <a:srgbClr val="1F2F3D"/>
                </a:solidFill>
              </a:rPr>
              <a:t>02 建设目标与技术路线</a:t>
            </a:r>
            <a:endParaRPr sz="1800" b="1" i="0">
              <a:solidFill>
                <a:srgbClr val="1F2F3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30099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23950" y="31432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F8ECD7"/>
          </a:solidFill>
          <a:ln w="0">
            <a:solidFill>
              <a:srgbClr val="F8ECD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38D3B"/>
                </a:solidFill>
              </a:defRPr>
            </a:pPr>
            <a:r>
              <a:rPr sz="1200" b="1">
                <a:solidFill>
                  <a:srgbClr val="C38D3B"/>
                </a:solidFill>
              </a:rPr>
              <a:t>03</a:t>
            </a:r>
            <a:endParaRPr sz="1200" b="1">
              <a:solidFill>
                <a:srgbClr val="C38D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81200" y="31242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03 E-R 图与关系模式</a:t>
            </a:r>
            <a:endParaRPr sz="1800" b="0" i="0">
              <a:solidFill>
                <a:srgbClr val="1F2F3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5052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36385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EBE3FB"/>
          </a:solidFill>
          <a:ln w="0">
            <a:solidFill>
              <a:srgbClr val="EBE3F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7D59B5"/>
                </a:solidFill>
              </a:defRPr>
            </a:pPr>
            <a:r>
              <a:rPr sz="1200" b="1">
                <a:solidFill>
                  <a:srgbClr val="7D59B5"/>
                </a:solidFill>
              </a:rPr>
              <a:t>04</a:t>
            </a:r>
            <a:endParaRPr sz="1200" b="1">
              <a:solidFill>
                <a:srgbClr val="7D59B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81200" y="36195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04 前端功能界面</a:t>
            </a:r>
            <a:endParaRPr sz="1800" b="0" i="0">
              <a:solidFill>
                <a:srgbClr val="1F2F3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40005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23950" y="41338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 w="0">
            <a:solidFill>
              <a:srgbClr val="FBE7E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D46A6A"/>
                </a:solidFill>
              </a:defRPr>
            </a:pPr>
            <a:r>
              <a:rPr sz="1200" b="1">
                <a:solidFill>
                  <a:srgbClr val="D46A6A"/>
                </a:solidFill>
              </a:rPr>
              <a:t>05</a:t>
            </a:r>
            <a:endParaRPr sz="1200" b="1">
              <a:solidFill>
                <a:srgbClr val="D46A6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981200" y="41148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05 后端增删改查实现</a:t>
            </a:r>
            <a:endParaRPr sz="1800" b="0" i="0">
              <a:solidFill>
                <a:srgbClr val="1F2F3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3950" y="44958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123950" y="46291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DFF1E4"/>
          </a:solidFill>
          <a:ln w="0">
            <a:solidFill>
              <a:srgbClr val="DFF1E4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7D55"/>
                </a:solidFill>
              </a:defRPr>
            </a:pPr>
            <a:r>
              <a:rPr sz="1200" b="1">
                <a:solidFill>
                  <a:srgbClr val="2E7D55"/>
                </a:solidFill>
              </a:rPr>
              <a:t>06</a:t>
            </a:r>
            <a:endParaRPr sz="1200" b="1">
              <a:solidFill>
                <a:srgbClr val="2E7D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81200" y="46101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06 数据库与 AI 亮点</a:t>
            </a:r>
            <a:endParaRPr sz="1800" b="0" i="0">
              <a:solidFill>
                <a:srgbClr val="1F2F3D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9911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123950" y="5124450"/>
            <a:ext cx="647700" cy="28575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07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981200" y="51054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07 项目总结</a:t>
            </a:r>
            <a:endParaRPr sz="1800" b="0" i="0">
              <a:solidFill>
                <a:srgbClr val="1F2F3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5486400"/>
            <a:ext cx="9677400" cy="19050"/>
          </a:xfrm>
          <a:prstGeom prst="rect">
            <a:avLst/>
          </a:prstGeom>
          <a:solidFill>
            <a:srgbClr val="A3BDD3"/>
          </a:solidFill>
          <a:ln w="0">
            <a:solidFill>
              <a:srgbClr val="A3BDD3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03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需求分析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系统需求分析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从业务目标、数据库目标与课程要求三个层面确定系统边界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1790700"/>
            <a:ext cx="333375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17907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1962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业务场景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343150"/>
            <a:ext cx="29527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企业制度、流程、FAQ 与操作规范分散，人工查找效率低。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知识内容更新频繁，需要保留版本并支持发布后的统一检索。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员工希望像对话助手一样直接提问，而不是逐篇翻文档。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43400" y="1790700"/>
            <a:ext cx="333375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43400" y="17907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1962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数据库诉求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2343150"/>
            <a:ext cx="29527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要把用户、文档、标签、分类、问答、引用证据等数据结构化落库。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要能清楚表达主键、外键、多表关联与实体之间的业务关系。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要让一次问答能追溯到具体文档片段，并保留 Agent 执行记录。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943850" y="1790700"/>
            <a:ext cx="348615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7943850" y="1790700"/>
            <a:ext cx="348615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8134350" y="1962150"/>
            <a:ext cx="3105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课程目标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2343150"/>
            <a:ext cx="3105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不仅展示界面，更要展示完整的数据建模与关系模式设计。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重点体现 MySQL 表设计、约束关系、CRUD 流程和 SQL 落库逻辑。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在传统数据库系统基础上，扩展智能问答与检索增强能力。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81050" y="4457700"/>
            <a:ext cx="10610850" cy="1104900"/>
          </a:xfrm>
          <a:prstGeom prst="roundRect">
            <a:avLst>
              <a:gd name="adj" fmla="val 13793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47053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F2F3D"/>
                </a:solidFill>
              </a:defRPr>
            </a:pPr>
            <a:r>
              <a:rPr sz="1875" b="1" i="0">
                <a:solidFill>
                  <a:srgbClr val="1F2F3D"/>
                </a:solidFill>
              </a:rPr>
              <a:t>因此，本项目不是单纯做一个网页，而是围绕“知识如何入库、如何关联、如何检索、如何追溯”构建一个可演示的数据库系统应用。</a:t>
            </a:r>
            <a:endParaRPr sz="1875" b="1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04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方案定位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建设目标与方案定位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把课程中的数据建模、关系模式与系统实现真正落到一个可运行 Demo 上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1790700"/>
            <a:ext cx="2362200" cy="1485900"/>
          </a:xfrm>
          <a:prstGeom prst="roundRect">
            <a:avLst>
              <a:gd name="adj" fmla="val 10256"/>
            </a:avLst>
          </a:prstGeom>
          <a:solidFill>
            <a:srgbClr val="D9ECFF"/>
          </a:solidFill>
          <a:ln w="9525">
            <a:solidFill>
              <a:srgbClr val="D9E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09650" y="1962150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D7287"/>
                </a:solidFill>
              </a:defRPr>
            </a:pPr>
            <a:r>
              <a:rPr sz="1350" b="0" i="0">
                <a:solidFill>
                  <a:srgbClr val="5D7287"/>
                </a:solidFill>
              </a:rPr>
              <a:t>目标一</a:t>
            </a:r>
            <a:endParaRPr sz="1350" b="0" i="0">
              <a:solidFill>
                <a:srgbClr val="5D728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09650" y="22479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2F6FB9"/>
                </a:solidFill>
              </a:defRPr>
            </a:pPr>
            <a:r>
              <a:rPr sz="2400" b="1" i="0">
                <a:solidFill>
                  <a:srgbClr val="2F6FB9"/>
                </a:solidFill>
              </a:rPr>
              <a:t>统一建模</a:t>
            </a:r>
            <a:endParaRPr sz="2400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9650" y="2686050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F3D"/>
                </a:solidFill>
              </a:defRPr>
            </a:pPr>
            <a:r>
              <a:rPr sz="1200" b="0" i="0">
                <a:solidFill>
                  <a:srgbClr val="1F2F3D"/>
                </a:solidFill>
              </a:rPr>
              <a:t>把知识管理主链路拆解为可落库、可关联、可扩展的实体关系结构</a:t>
            </a:r>
            <a:endParaRPr sz="1200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390900" y="1790700"/>
            <a:ext cx="2362200" cy="1485900"/>
          </a:xfrm>
          <a:prstGeom prst="roundRect">
            <a:avLst>
              <a:gd name="adj" fmla="val 10256"/>
            </a:avLst>
          </a:prstGeom>
          <a:solidFill>
            <a:srgbClr val="DFF5F5"/>
          </a:solidFill>
          <a:ln w="9525">
            <a:solidFill>
              <a:srgbClr val="DFF5F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00450" y="1962150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D7287"/>
                </a:solidFill>
              </a:defRPr>
            </a:pPr>
            <a:r>
              <a:rPr sz="1350" b="0" i="0">
                <a:solidFill>
                  <a:srgbClr val="5D7287"/>
                </a:solidFill>
              </a:rPr>
              <a:t>目标二</a:t>
            </a:r>
            <a:endParaRPr sz="1350" b="0" i="0">
              <a:solidFill>
                <a:srgbClr val="5D728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600450" y="22479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F8A8A"/>
                </a:solidFill>
              </a:defRPr>
            </a:pPr>
            <a:r>
              <a:rPr sz="2400" b="1" i="0">
                <a:solidFill>
                  <a:srgbClr val="1F8A8A"/>
                </a:solidFill>
              </a:rPr>
              <a:t>完整闭环</a:t>
            </a:r>
            <a:endParaRPr sz="2400" b="1" i="0">
              <a:solidFill>
                <a:srgbClr val="1F8A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00450" y="2686050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F3D"/>
                </a:solidFill>
              </a:defRPr>
            </a:pPr>
            <a:r>
              <a:rPr sz="1200" b="0" i="0">
                <a:solidFill>
                  <a:srgbClr val="1F2F3D"/>
                </a:solidFill>
              </a:rPr>
              <a:t>实现文档上传、发布、检索、问答、引用、审计的端到端流程</a:t>
            </a:r>
            <a:endParaRPr sz="1200" b="0" i="0">
              <a:solidFill>
                <a:srgbClr val="1F2F3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981700" y="1790700"/>
            <a:ext cx="2362200" cy="1485900"/>
          </a:xfrm>
          <a:prstGeom prst="roundRect">
            <a:avLst>
              <a:gd name="adj" fmla="val 10256"/>
            </a:avLst>
          </a:prstGeom>
          <a:solidFill>
            <a:srgbClr val="F8ECD7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91250" y="1962150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D7287"/>
                </a:solidFill>
              </a:defRPr>
            </a:pPr>
            <a:r>
              <a:rPr sz="1350" b="0" i="0">
                <a:solidFill>
                  <a:srgbClr val="5D7287"/>
                </a:solidFill>
              </a:rPr>
              <a:t>目标三</a:t>
            </a:r>
            <a:endParaRPr sz="1350" b="0" i="0">
              <a:solidFill>
                <a:srgbClr val="5D728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191250" y="22479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C38D3B"/>
                </a:solidFill>
              </a:defRPr>
            </a:pPr>
            <a:r>
              <a:rPr lang="zh-CN" sz="2400" b="1" i="0">
                <a:solidFill>
                  <a:srgbClr val="C38D3B"/>
                </a:solidFill>
              </a:rPr>
              <a:t>结构</a:t>
            </a:r>
            <a:r>
              <a:rPr lang="zh-CN" sz="2400" b="1" i="0">
                <a:solidFill>
                  <a:srgbClr val="C38D3B"/>
                </a:solidFill>
              </a:rPr>
              <a:t>对应</a:t>
            </a:r>
            <a:endParaRPr lang="zh-CN" sz="2400" b="1" i="0">
              <a:solidFill>
                <a:srgbClr val="C38D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191250" y="2686050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F3D"/>
                </a:solidFill>
              </a:defRPr>
            </a:pPr>
            <a:r>
              <a:rPr sz="1200" b="0" i="0">
                <a:solidFill>
                  <a:srgbClr val="1F2F3D"/>
                </a:solidFill>
              </a:rPr>
              <a:t>让前端展示、后端接口与数据库表结构能够一一对应</a:t>
            </a:r>
            <a:endParaRPr sz="1200" b="0" i="0">
              <a:solidFill>
                <a:srgbClr val="1F2F3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572500" y="1790700"/>
            <a:ext cx="2838450" cy="1485900"/>
          </a:xfrm>
          <a:prstGeom prst="roundRect">
            <a:avLst>
              <a:gd name="adj" fmla="val 10256"/>
            </a:avLst>
          </a:prstGeom>
          <a:solidFill>
            <a:srgbClr val="EBE3FB"/>
          </a:solidFill>
          <a:ln w="9525">
            <a:solidFill>
              <a:srgbClr val="EBE3F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82050" y="1962150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D7287"/>
                </a:solidFill>
              </a:defRPr>
            </a:pPr>
            <a:r>
              <a:rPr sz="1350" b="0" i="0">
                <a:solidFill>
                  <a:srgbClr val="5D7287"/>
                </a:solidFill>
              </a:rPr>
              <a:t>目标四</a:t>
            </a:r>
            <a:endParaRPr sz="1350" b="0" i="0">
              <a:solidFill>
                <a:srgbClr val="5D728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782050" y="22479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7D59B5"/>
                </a:solidFill>
              </a:defRPr>
            </a:pPr>
            <a:r>
              <a:rPr sz="2400" b="1" i="0">
                <a:solidFill>
                  <a:srgbClr val="7D59B5"/>
                </a:solidFill>
              </a:rPr>
              <a:t>能力扩展</a:t>
            </a:r>
            <a:endParaRPr sz="2400" b="1" i="0">
              <a:solidFill>
                <a:srgbClr val="7D59B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782050" y="2686050"/>
            <a:ext cx="2419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F3D"/>
                </a:solidFill>
              </a:defRPr>
            </a:pPr>
            <a:r>
              <a:rPr sz="1200" b="0" i="0">
                <a:solidFill>
                  <a:srgbClr val="1F2F3D"/>
                </a:solidFill>
              </a:rPr>
              <a:t>在 MySQL 主链路之上接入大模型问答与向量检索演示</a:t>
            </a:r>
            <a:endParaRPr sz="1200" b="0" i="0">
              <a:solidFill>
                <a:srgbClr val="1F2F3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0100" y="3676650"/>
            <a:ext cx="105918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46A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" y="3676650"/>
            <a:ext cx="10591800" cy="76200"/>
          </a:xfrm>
          <a:prstGeom prst="roundRect">
            <a:avLst>
              <a:gd name="adj" fmla="val 50000"/>
            </a:avLst>
          </a:prstGeom>
          <a:solidFill>
            <a:srgbClr val="D46A6A"/>
          </a:solidFill>
          <a:ln w="9525">
            <a:solidFill>
              <a:srgbClr val="D46A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3848100"/>
            <a:ext cx="1021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D46A6A"/>
                </a:solidFill>
              </a:defRPr>
            </a:pPr>
            <a:r>
              <a:rPr sz="1725" b="1" i="0">
                <a:solidFill>
                  <a:srgbClr val="D46A6A"/>
                </a:solidFill>
              </a:rPr>
              <a:t>方案说明</a:t>
            </a:r>
            <a:endParaRPr sz="1725" b="1" i="0">
              <a:solidFill>
                <a:srgbClr val="D46A6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4229100"/>
            <a:ext cx="102108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F2F3D"/>
                </a:solidFill>
              </a:defRPr>
            </a:pPr>
            <a:r>
              <a:rPr sz="1500" b="0" i="0">
                <a:solidFill>
                  <a:srgbClr val="1F2F3D"/>
                </a:solidFill>
              </a:rPr>
              <a:t>• 系统定位为企业知识资产管理与智能检索平台，而不是单点 FAQ 工具。</a:t>
            </a:r>
            <a:endParaRPr sz="1500" b="0" i="0">
              <a:solidFill>
                <a:srgbClr val="1F2F3D"/>
              </a:solidFill>
            </a:endParaRPr>
          </a:p>
          <a:p>
            <a:pPr algn="l">
              <a:defRPr sz="1500" b="0" i="0">
                <a:solidFill>
                  <a:srgbClr val="1F2F3D"/>
                </a:solidFill>
              </a:defRPr>
            </a:pPr>
            <a:r>
              <a:rPr sz="1500" b="0" i="0">
                <a:solidFill>
                  <a:srgbClr val="1F2F3D"/>
                </a:solidFill>
              </a:rPr>
              <a:t>• 数据库设计优先保证实体清晰、关系清晰、主外键清晰，再考虑智能能力接入。</a:t>
            </a:r>
            <a:endParaRPr sz="150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05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技术路线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系统架构与技术路线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采用前后端分离 + MySQL 主存储 + 向量检索与大模型增强的组合方案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847850"/>
            <a:ext cx="2324100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1847850"/>
            <a:ext cx="232410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20193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前端展示层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400300"/>
            <a:ext cx="19431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React + TypeScript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看板、文档中心、智能问答、Agent 记录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用于展示核心业务流程与用户交互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200400" y="25527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C38D3B"/>
                </a:solidFill>
              </a:defRPr>
            </a:pPr>
            <a:r>
              <a:rPr sz="2400" b="1" i="0">
                <a:solidFill>
                  <a:srgbClr val="C38D3B"/>
                </a:solidFill>
              </a:rPr>
              <a:t>→</a:t>
            </a:r>
            <a:endParaRPr sz="2400" b="1" i="0">
              <a:solidFill>
                <a:srgbClr val="C38D3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76650" y="1847850"/>
            <a:ext cx="2324100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3676650" y="1847850"/>
            <a:ext cx="232410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3867150" y="20193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后端接口层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67150" y="2400300"/>
            <a:ext cx="19431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Rust + Axum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登录鉴权、文档 CRUD、问答接口、审计接口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负责业务编排与数据一致性控制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25527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C38D3B"/>
                </a:solidFill>
              </a:defRPr>
            </a:pPr>
            <a:r>
              <a:rPr sz="2400" b="1" i="0">
                <a:solidFill>
                  <a:srgbClr val="C38D3B"/>
                </a:solidFill>
              </a:rPr>
              <a:t>→</a:t>
            </a:r>
            <a:endParaRPr sz="2400" b="1" i="0">
              <a:solidFill>
                <a:srgbClr val="C38D3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72250" y="1847850"/>
            <a:ext cx="2324100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6572250" y="1847850"/>
            <a:ext cx="232410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6762750" y="20193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关系数据库层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62750" y="2400300"/>
            <a:ext cx="19431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MySQL 作为主数据库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承接实体数据、关系数据、行为记录和问答结果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通过主键外键组织完整业务闭环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91600" y="25527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C38D3B"/>
                </a:solidFill>
              </a:defRPr>
            </a:pPr>
            <a:r>
              <a:rPr sz="2400" b="1" i="0">
                <a:solidFill>
                  <a:srgbClr val="C38D3B"/>
                </a:solidFill>
              </a:rPr>
              <a:t>→</a:t>
            </a:r>
            <a:endParaRPr sz="2400" b="1" i="0">
              <a:solidFill>
                <a:srgbClr val="C38D3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467850" y="1847850"/>
            <a:ext cx="1943100" cy="19621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圆角矩形 21"/>
          <p:cNvSpPr>
            <a:spLocks noGrp="1"/>
          </p:cNvSpPr>
          <p:nvPr/>
        </p:nvSpPr>
        <p:spPr>
          <a:xfrm>
            <a:off x="9467850" y="1847850"/>
            <a:ext cx="1943100" cy="76200"/>
          </a:xfrm>
          <a:prstGeom prst="roundRect">
            <a:avLst>
              <a:gd name="adj" fmla="val 50000"/>
            </a:avLst>
          </a:prstGeom>
          <a:solidFill>
            <a:srgbClr val="7D59B5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9658350" y="201930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7D59B5"/>
                </a:solidFill>
              </a:defRPr>
            </a:pPr>
            <a:r>
              <a:rPr sz="1725" b="1" i="0">
                <a:solidFill>
                  <a:srgbClr val="7D59B5"/>
                </a:solidFill>
              </a:rPr>
              <a:t>智能增强层</a:t>
            </a:r>
            <a:endParaRPr sz="1725" b="1" i="0">
              <a:solidFill>
                <a:srgbClr val="7D59B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658350" y="2400300"/>
            <a:ext cx="15621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Qdrant 向量检索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智谱大模型生成回答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MinIO 或本地镜像承接对象文件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0100" y="4095750"/>
            <a:ext cx="10591800" cy="1333500"/>
          </a:xfrm>
          <a:prstGeom prst="roundRect">
            <a:avLst>
              <a:gd name="adj" fmla="val 11429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1028700" y="4343400"/>
            <a:ext cx="1009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整个系统的核心仍然是 MySQL。向量检索和大模型不是替代数据库，而是在数据库已经组织好知识结构的前提下，为检索与问答提供增强能力。</a:t>
            </a:r>
            <a:endParaRPr sz="180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06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数据建模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E-R 图一：知识管理主链路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围绕用户、文档、分类、标签、版本与文件建立核心业务数据关系</a:t>
            </a:r>
            <a:endParaRPr sz="1500" b="0" i="0">
              <a:solidFill>
                <a:srgbClr val="5D7287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2432685"/>
            <a:ext cx="5497195" cy="3738245"/>
          </a:xfrm>
          <a:prstGeom prst="roundRect">
            <a:avLst>
              <a:gd name="adj" fmla="val 4848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5543550" y="1790700"/>
            <a:ext cx="58483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5543550" y="1790700"/>
            <a:ext cx="584835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5734050" y="1962150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关系解读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34050" y="2343150"/>
            <a:ext cx="54673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用户发布文档，文档归属于一个分类，并可关联多个标签。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文档与标签是多对多关系，因此通过中间表 document_tags 实现。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每篇文档可对应多个历史版本，每个版本都保留快照信息。</a:t>
            </a:r>
            <a:endParaRPr sz="135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07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数据建模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E-R 图二：问答追溯与 Agent 审计链路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围绕问题、回答、引用片段、分段与 Agent 运行日志构建智能问答闭环</a:t>
            </a:r>
            <a:endParaRPr sz="1500" b="0" i="0">
              <a:solidFill>
                <a:srgbClr val="5D7287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1713230"/>
            <a:ext cx="5050790" cy="4148455"/>
          </a:xfrm>
          <a:prstGeom prst="roundRect">
            <a:avLst>
              <a:gd name="adj" fmla="val 4908"/>
            </a:avLst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5562600" y="1790700"/>
            <a:ext cx="58293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5562600" y="1790700"/>
            <a:ext cx="582930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5753100" y="1962150"/>
            <a:ext cx="544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追溯逻辑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53100" y="2343150"/>
            <a:ext cx="544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一个用户可以提出多个问题，一个问题对应一个回答结果。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一个回答可以引用多个证据片段，因此 answers 与 answer_citations 是一对多关系。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每条引用又会指向 document_segments，从而追溯到具体文档内容。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562600" y="3733800"/>
            <a:ext cx="58293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62600" y="3733800"/>
            <a:ext cx="5829300" cy="76200"/>
          </a:xfrm>
          <a:prstGeom prst="roundRect">
            <a:avLst>
              <a:gd name="adj" fmla="val 50000"/>
            </a:avLst>
          </a:prstGeom>
          <a:solidFill>
            <a:srgbClr val="7D59B5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5753100" y="3905250"/>
            <a:ext cx="544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7D59B5"/>
                </a:solidFill>
              </a:defRPr>
            </a:pPr>
            <a:r>
              <a:rPr sz="1725" b="1" i="0">
                <a:solidFill>
                  <a:srgbClr val="7D59B5"/>
                </a:solidFill>
              </a:rPr>
              <a:t>审计价值</a:t>
            </a:r>
            <a:endParaRPr sz="1725" b="1" i="0">
              <a:solidFill>
                <a:srgbClr val="7D59B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53100" y="4286250"/>
            <a:ext cx="5448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Agent 运行记录用于保存检索、生成、发布等动作的执行信息。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这一部分回答的是“答案从哪里来、是否可解释、是否可审计”的问题。</a:t>
            </a:r>
            <a:endParaRPr sz="135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08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关系模式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关系模式与表分层设计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由 16 张核心数据表共同支撑系统主链路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809750"/>
            <a:ext cx="240030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1809750"/>
            <a:ext cx="240030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1981200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基础主数据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62200"/>
            <a:ext cx="20193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roles(角色主档)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users(用户主档)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categories(分类主档)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tags(标签主档)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352800" y="1809750"/>
            <a:ext cx="240030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52800" y="1809750"/>
            <a:ext cx="240030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1981200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知识内容数据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2362200"/>
            <a:ext cx="20193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document_files(源文件元数据)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documents(当前文档快照)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document_versions(历史版本快照)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document_tags(文档标签关系)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24550" y="1809750"/>
            <a:ext cx="240030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5924550" y="1809750"/>
            <a:ext cx="240030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115050" y="1981200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行为与问答数据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15050" y="2362200"/>
            <a:ext cx="20193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read_records(阅读记录)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favorite_records(收藏记录)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questions(问题表)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answers(回答表)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faq_items(FAQ 表)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496300" y="1809750"/>
            <a:ext cx="280035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圆角矩形 18"/>
          <p:cNvSpPr>
            <a:spLocks noGrp="1"/>
          </p:cNvSpPr>
          <p:nvPr/>
        </p:nvSpPr>
        <p:spPr>
          <a:xfrm>
            <a:off x="8496300" y="1809750"/>
            <a:ext cx="2800350" cy="76200"/>
          </a:xfrm>
          <a:prstGeom prst="roundRect">
            <a:avLst>
              <a:gd name="adj" fmla="val 50000"/>
            </a:avLst>
          </a:prstGeom>
          <a:solidFill>
            <a:srgbClr val="7D59B5"/>
          </a:solidFill>
          <a:ln w="9525">
            <a:solidFill>
              <a:srgbClr val="7D59B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8686800" y="1981200"/>
            <a:ext cx="2419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7D59B5"/>
                </a:solidFill>
              </a:defRPr>
            </a:pPr>
            <a:r>
              <a:rPr sz="1725" b="1" i="0">
                <a:solidFill>
                  <a:srgbClr val="7D59B5"/>
                </a:solidFill>
              </a:rPr>
              <a:t>检索与审计数据</a:t>
            </a:r>
            <a:endParaRPr sz="1725" b="1" i="0">
              <a:solidFill>
                <a:srgbClr val="7D59B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86800" y="2362200"/>
            <a:ext cx="24193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document_segments(文档分段)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answer_citations(回答引用证据)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agent_runs(Agent 运行记录)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0100" y="4229100"/>
            <a:ext cx="10591800" cy="1162050"/>
          </a:xfrm>
          <a:prstGeom prst="roundRect">
            <a:avLst>
              <a:gd name="adj" fmla="val 13115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4476750"/>
            <a:ext cx="1009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F2F3D"/>
                </a:solidFill>
              </a:defRPr>
            </a:pPr>
            <a:r>
              <a:rPr sz="1800" b="0" i="0">
                <a:solidFill>
                  <a:srgbClr val="1F2F3D"/>
                </a:solidFill>
              </a:rPr>
              <a:t>关系模式设计遵循“强实体先落库、弱关系用外键、多对多拆中间表、可追溯链路单独建表”的原则，既满足数据库规范化要求，也支持后续功能扩展。</a:t>
            </a:r>
            <a:endParaRPr sz="180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09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功能展示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前端功能界面展示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前端围绕数据库主链路组织页面，保证每个关键实体都能被看见、被操作、被追溯</a:t>
            </a:r>
            <a:endParaRPr sz="1500" b="0" i="0">
              <a:solidFill>
                <a:srgbClr val="5D7287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 l="2611" r="2611"/>
          <a:stretch>
            <a:fillRect/>
          </a:stretch>
        </p:blipFill>
        <p:spPr>
          <a:xfrm>
            <a:off x="781050" y="1790700"/>
            <a:ext cx="3333750" cy="1866900"/>
          </a:xfrm>
          <a:prstGeom prst="roundRect">
            <a:avLst>
              <a:gd name="adj" fmla="val 8163"/>
            </a:avLst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l="2611" r="2611"/>
          <a:stretch>
            <a:fillRect/>
          </a:stretch>
        </p:blipFill>
        <p:spPr>
          <a:xfrm>
            <a:off x="4400550" y="1790700"/>
            <a:ext cx="3333750" cy="1866900"/>
          </a:xfrm>
          <a:prstGeom prst="roundRect">
            <a:avLst>
              <a:gd name="adj" fmla="val 8163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2611" r="2611"/>
          <a:stretch>
            <a:fillRect/>
          </a:stretch>
        </p:blipFill>
        <p:spPr>
          <a:xfrm>
            <a:off x="8020050" y="1790700"/>
            <a:ext cx="3333750" cy="1866900"/>
          </a:xfrm>
          <a:prstGeom prst="roundRect">
            <a:avLst>
              <a:gd name="adj" fmla="val 8163"/>
            </a:avLst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781050" y="3886200"/>
            <a:ext cx="33337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38862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40576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首页看板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44386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展示文档总量、发布量、问答量与 Agent 运行数。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通过聚合结果直观体现数据库中的统计数据。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00550" y="3886200"/>
            <a:ext cx="33337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4400550" y="38862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40576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文档中心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91050" y="44386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支持新增文档、编辑信息、发布版本、关联分类与标签。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适合演示 documents、document_versions、document_tags 等表的变化。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20050" y="3886200"/>
            <a:ext cx="333375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20050" y="38862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210550" y="40576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智能问答与 Agent 记录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10550" y="44386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问答页展示提问、回答、引用证据与历史记录。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Agent 页展示摘要、问答、执行状态与审计链路。</a:t>
            </a:r>
            <a:endParaRPr sz="135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10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后端实现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后端增删改查接口设计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以后端路由为中心，展示数据库系统中的典型 CRUD 能力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809750"/>
            <a:ext cx="5143500" cy="3143250"/>
          </a:xfrm>
          <a:prstGeom prst="roundRect">
            <a:avLst>
              <a:gd name="adj" fmla="val 4848"/>
            </a:avLst>
          </a:prstGeom>
          <a:solidFill>
            <a:srgbClr val="EEF4FB"/>
          </a:solidFill>
          <a:ln w="9525">
            <a:solidFill>
              <a:srgbClr val="CAD7E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92405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14D"/>
                </a:solidFill>
              </a:defRPr>
            </a:pPr>
            <a:r>
              <a:rPr sz="1350" b="1" i="0">
                <a:solidFill>
                  <a:srgbClr val="12314D"/>
                </a:solidFill>
              </a:rPr>
              <a:t>documents.rs</a:t>
            </a:r>
            <a:endParaRPr sz="1350" b="1" i="0">
              <a:solidFill>
                <a:srgbClr val="12314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7080" y="2198370"/>
            <a:ext cx="48387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pub async fn create_document(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State(state): State&lt;AppState&gt;,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headers: HeaderMap,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Json(payload): Json&lt;CreateDocumentRequest&gt;,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) -&gt; Result&lt;(StatusCode, Json&lt;ApiResponse&lt;DocumentDetail&gt;&gt;), StatusCode&gt;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user = require_content_manager(&amp;headers, &amp;state).await?;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detail = state.store.create_document(user.user_id, payload).await;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Ok((StatusCode::CREATED, Json(ApiResponse::ok("document created", detail))))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}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pub async fn update_document(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Path(id): Path&lt;u64&gt;,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State(state): State&lt;AppState&gt;,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headers: HeaderMap,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Json(payload): Json&lt;UpdateDocumentRequest&gt;,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) -&gt; Result&lt;Json&lt;ApiResponse&lt;DocumentDetail&gt;&gt;, StatusCode&gt;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user = require_content_manager(&amp;headers, &amp;state).await?;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.store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.update_document(user.user_id, id, payload)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.await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.map(|item| Json(ApiResponse::ok("document updated", item)))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.ok_or(StatusCode::NOT_FOUND)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}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pub async fn publish_document(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Path(id): Path&lt;u64&gt;,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State(state): State&lt;AppState&gt;,</a:t>
            </a:r>
            <a:endParaRPr sz="1050" b="0" i="0">
              <a:solidFill>
                <a:srgbClr val="1F2F3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362700" y="1809750"/>
            <a:ext cx="5143500" cy="3143250"/>
          </a:xfrm>
          <a:prstGeom prst="roundRect">
            <a:avLst>
              <a:gd name="adj" fmla="val 4848"/>
            </a:avLst>
          </a:prstGeom>
          <a:solidFill>
            <a:srgbClr val="EEF4FB"/>
          </a:solidFill>
          <a:ln w="9525">
            <a:solidFill>
              <a:srgbClr val="CAD7E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6515100" y="192405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14D"/>
                </a:solidFill>
              </a:defRPr>
            </a:pPr>
            <a:r>
              <a:rPr sz="1350" b="1" i="0">
                <a:solidFill>
                  <a:srgbClr val="12314D"/>
                </a:solidFill>
              </a:rPr>
              <a:t>qa.rs</a:t>
            </a:r>
            <a:endParaRPr sz="1350" b="1" i="0">
              <a:solidFill>
                <a:srgbClr val="12314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15100" y="2209800"/>
            <a:ext cx="48387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pub async fn ask_question(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State(state): State&lt;AppState&gt;,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headers: HeaderMap,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Json(payload): Json&lt;AskQuestionRequest&gt;,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) -&gt; Result&lt;Json&lt;ApiResponse&lt;QaAnswer&gt;&gt;, StatusCode&gt;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user = require_user(&amp;headers, &amp;state).await?;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answer = state.store.ask_question(user.user_id, payload.question_text).await;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Ok(Json(ApiResponse::ok("qa answered", answer)))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}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pub async fn list_question_history(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State(state): State&lt;AppState&gt;,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headers: HeaderMap,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) -&gt; Result&lt;Json&lt;ApiResponse&lt;Vec&lt;QuestionHistoryItem&gt;&gt;&gt;, StatusCode&gt;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let user = require_user(&amp;headers, &amp;state).await?;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Ok(Json(ApiResponse::ok(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"question history",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state.store.list_question_history(user.user_id).await,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)))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}</a:t>
            </a:r>
            <a:endParaRPr sz="1050" b="0" i="0">
              <a:solidFill>
                <a:srgbClr val="1F2F3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5143500"/>
            <a:ext cx="108204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46A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5143500"/>
            <a:ext cx="10820400" cy="76200"/>
          </a:xfrm>
          <a:prstGeom prst="roundRect">
            <a:avLst>
              <a:gd name="adj" fmla="val 50000"/>
            </a:avLst>
          </a:prstGeom>
          <a:solidFill>
            <a:srgbClr val="D46A6A"/>
          </a:solidFill>
          <a:ln w="9525">
            <a:solidFill>
              <a:srgbClr val="D46A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53149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D46A6A"/>
                </a:solidFill>
              </a:defRPr>
            </a:pPr>
            <a:r>
              <a:rPr sz="1725" b="1" i="0">
                <a:solidFill>
                  <a:srgbClr val="D46A6A"/>
                </a:solidFill>
              </a:rPr>
              <a:t>CRUD 对应关系</a:t>
            </a:r>
            <a:endParaRPr sz="1725" b="1" i="0">
              <a:solidFill>
                <a:srgbClr val="D46A6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39695" y="5311775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新增：创建文档、注册文件、写入 FAQ、提交问题、生成回答。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查询：文档列表、文档详情、问答历史、Agent 记录、分类标签概览。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修改：编辑文档、更新发布状态、重建分段索引、维护用户与角色信息。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删除：按权限删除文档资源或重置测试数据，保证主外键约束不被破坏。</a:t>
            </a:r>
            <a:endParaRPr sz="135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11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数据库实现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后端落库链路与关键 SQL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从 MySQL 表结构与业务写入逻辑两侧展示数据库系统实现细节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790700"/>
            <a:ext cx="3543300" cy="3200400"/>
          </a:xfrm>
          <a:prstGeom prst="roundRect">
            <a:avLst>
              <a:gd name="adj" fmla="val 4762"/>
            </a:avLst>
          </a:prstGeom>
          <a:solidFill>
            <a:srgbClr val="EEF4FB"/>
          </a:solidFill>
          <a:ln w="9525">
            <a:solidFill>
              <a:srgbClr val="CAD7E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9050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14D"/>
                </a:solidFill>
              </a:defRPr>
            </a:pPr>
            <a:r>
              <a:rPr sz="1350" b="1" i="0">
                <a:solidFill>
                  <a:srgbClr val="12314D"/>
                </a:solidFill>
              </a:rPr>
              <a:t>questions / answers</a:t>
            </a:r>
            <a:endParaRPr sz="1350" b="1" i="0">
              <a:solidFill>
                <a:srgbClr val="12314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90750"/>
            <a:ext cx="3238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let insert_question = sqlx::query(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"INSERT INTO questions (user_id, question_text, status, created_at) VALUES (?, ?, 'answered', UTC_TIMESTAMP())",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.bind(user_id as i64)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.bind(&amp;question_text)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.execute(tx.as_mut())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.await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.expect("insert question");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let question_id = insert_question.last_insert_id() as i64;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let insert_answer = sqlx::query(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"INSERT INTO answers (question_id, answer_text, confidence_score, model_name, status, latency_ms, created_at)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VALUES (?, ?, ?, ?, 'success', 120, UTC_TIMESTAMP())",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.bind(question_id)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.bind(&amp;answer_text)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.bind(confidence_score)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.bind(model_name)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.execute(tx.as_mut())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.await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.expect("insert answer");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let answer_id = insert_answer.last_insert_id() as i64;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for citation in &amp;citations {</a:t>
            </a:r>
            <a:endParaRPr sz="1050" b="0" i="0">
              <a:solidFill>
                <a:srgbClr val="1F2F3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24350" y="1790700"/>
            <a:ext cx="3543300" cy="3200400"/>
          </a:xfrm>
          <a:prstGeom prst="roundRect">
            <a:avLst>
              <a:gd name="adj" fmla="val 4762"/>
            </a:avLst>
          </a:prstGeom>
          <a:solidFill>
            <a:srgbClr val="EEF4FB"/>
          </a:solidFill>
          <a:ln w="9525">
            <a:solidFill>
              <a:srgbClr val="CAD7E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19050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14D"/>
                </a:solidFill>
              </a:defRPr>
            </a:pPr>
            <a:r>
              <a:rPr sz="1350" b="1" i="0">
                <a:solidFill>
                  <a:srgbClr val="12314D"/>
                </a:solidFill>
              </a:rPr>
              <a:t>answer_citations</a:t>
            </a:r>
            <a:endParaRPr sz="1350" b="1" i="0">
              <a:solidFill>
                <a:srgbClr val="12314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76750" y="2190750"/>
            <a:ext cx="3238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   "INSERT INTO answer_citations 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       answer_id, document_id, version_id, segment_id, cite_order, score, snippet_text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    ) VALUES (?, ?, ?, ?, ?, ?, ?)",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.bind(answer_id)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.bind(document_id)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.bind(version_id)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.bind(citation.segment_id.map(|value| value as i64))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.bind(citation.cite_order as i32)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.bind(citation.score)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.bind(&amp;citation.snippet_text)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.execute(tx.as_mut())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.await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.expect("insert citation");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}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let meta_json = if llm_answer.is_some()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format!("{{\"provider\":\"zhipu\",\"citation_count\":{}}}", citations.len())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} else {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format!("{{\"provider\":\"demo-rag\",\"citation_count\":{}}}", citations.len())</a:t>
            </a:r>
            <a:endParaRPr sz="1050" b="0" i="0">
              <a:solidFill>
                <a:srgbClr val="1F2F3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962900" y="1790700"/>
            <a:ext cx="3543300" cy="3200400"/>
          </a:xfrm>
          <a:prstGeom prst="roundRect">
            <a:avLst>
              <a:gd name="adj" fmla="val 4762"/>
            </a:avLst>
          </a:prstGeom>
          <a:solidFill>
            <a:srgbClr val="EEF4FB"/>
          </a:solidFill>
          <a:ln w="9525">
            <a:solidFill>
              <a:srgbClr val="CAD7E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8115300" y="19050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14D"/>
                </a:solidFill>
              </a:defRPr>
            </a:pPr>
            <a:r>
              <a:rPr sz="1350" b="1" i="0">
                <a:solidFill>
                  <a:srgbClr val="12314D"/>
                </a:solidFill>
              </a:rPr>
              <a:t>agent_runs</a:t>
            </a:r>
            <a:endParaRPr sz="1350" b="1" i="0">
              <a:solidFill>
                <a:srgbClr val="12314D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15300" y="2190750"/>
            <a:ext cx="3238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"INSERT INTO agent_runs (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   agent_type, trigger_type, operator_user_id, document_id, version_id, question_id, answer_id, status, input_text, output_text, meta_json, started_at, finished_at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     ) VALUES (?, ?, ?, ?, ?, ?, ?, ?, ?, ?, ?, UTC_TIMESTAMP(), UTC_TIMESTAMP())",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.bind(agent_type)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.bind(trigger_type)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.bind(operator_user_id as i64)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.bind(document_id)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.bind(version_id)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.bind(question_id)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.bind(answer_id)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.bind(status)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.bind(input_text)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.bind(output_text)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.bind(meta_json)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.execute(tx.as_mut())</a:t>
            </a:r>
            <a:endParaRPr sz="1050" b="0" i="0">
              <a:solidFill>
                <a:srgbClr val="1F2F3D"/>
              </a:solidFill>
            </a:endParaRPr>
          </a:p>
          <a:p>
            <a:pPr algn="l">
              <a:defRPr sz="1050" b="0" i="0">
                <a:solidFill>
                  <a:srgbClr val="1F2F3D"/>
                </a:solidFill>
              </a:defRPr>
            </a:pPr>
            <a:r>
              <a:rPr sz="1050" b="0" i="0">
                <a:solidFill>
                  <a:srgbClr val="1F2F3D"/>
                </a:solidFill>
              </a:rPr>
              <a:t>        .await?;</a:t>
            </a:r>
            <a:endParaRPr sz="1050" b="0" i="0">
              <a:solidFill>
                <a:srgbClr val="1F2F3D"/>
              </a:solidFill>
            </a:endParaRPr>
          </a:p>
          <a:p>
            <a:endParaRPr sz="1050"/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85800" y="5181600"/>
            <a:ext cx="108204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5181600"/>
            <a:ext cx="1082040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53530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数据库说明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279650" y="5373370"/>
            <a:ext cx="10439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001_init.sql 定义了 16 张核心表，是整个系统的数据库骨架。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mysql.rs 中把问题、回答、引用证据和 Agent 记录分别写入不同关系表。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通过外键约束保证问题、回答、片段引用和文档之间的关系始终一致。</a:t>
            </a:r>
            <a:endParaRPr sz="1350" b="0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12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系统亮点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系统亮点与价值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在数据库系统主线之上，加入可解释、可审计、可扩展的智能能力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1847850"/>
            <a:ext cx="32766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/>
        </p:nvSpPr>
        <p:spPr>
          <a:xfrm>
            <a:off x="800100" y="1847850"/>
            <a:ext cx="327660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01930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AI 问答增强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400300"/>
            <a:ext cx="2895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接入智谱大模型，用自然语言回答企业知识问题。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不是直接自由生成，而是先检索再作答，强调数据库与知识库支撑作用。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43400" y="1847850"/>
            <a:ext cx="32766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43400" y="1847850"/>
            <a:ext cx="327660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2019300"/>
            <a:ext cx="2895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证据可追溯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2400300"/>
            <a:ext cx="2895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回答结果不是黑盒输出，每个答案都可以回溯到引用片段。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answer_citations 与 document_segments 共同完成“答案有依据”的证明。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86700" y="1847850"/>
            <a:ext cx="34290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7886700" y="18478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8077200" y="20193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工程可演示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77200" y="2400300"/>
            <a:ext cx="3048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本地可运行、前后端可联调、MySQL 可直接查看数据变化。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为后续扩展 Redis、Qdrant、对象存储留出接口。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0100" y="4000500"/>
            <a:ext cx="106299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2E7D5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0100" y="4000500"/>
            <a:ext cx="10629900" cy="76200"/>
          </a:xfrm>
          <a:prstGeom prst="roundRect">
            <a:avLst>
              <a:gd name="adj" fmla="val 50000"/>
            </a:avLst>
          </a:prstGeom>
          <a:solidFill>
            <a:srgbClr val="2E7D55"/>
          </a:solidFill>
          <a:ln w="9525">
            <a:solidFill>
              <a:srgbClr val="2E7D5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4171950"/>
            <a:ext cx="1024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E7D55"/>
                </a:solidFill>
              </a:defRPr>
            </a:pPr>
            <a:r>
              <a:rPr sz="1725" b="1" i="0">
                <a:solidFill>
                  <a:srgbClr val="2E7D55"/>
                </a:solidFill>
              </a:rPr>
              <a:t>结构化约束</a:t>
            </a:r>
            <a:endParaRPr sz="1725" b="1" i="0">
              <a:solidFill>
                <a:srgbClr val="2E7D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4552950"/>
            <a:ext cx="10248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通过主键、外键和中间表把核心实体关系落到数据库中。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外键分布：documents 含 3 个外键；document_versions 含 3 个外键；answer_citations 含 4 个外键；agent_runs 含 5 个外键</a:t>
            </a:r>
            <a:endParaRPr sz="1350" b="0" i="0">
              <a:solidFill>
                <a:srgbClr val="1F2F3D"/>
              </a:solidFill>
            </a:endParaRPr>
          </a:p>
          <a:p>
            <a:pPr algn="l">
              <a:defRPr sz="1350" b="0" i="0">
                <a:solidFill>
                  <a:srgbClr val="1F2F3D"/>
                </a:solidFill>
              </a:defRPr>
            </a:pPr>
            <a:r>
              <a:rPr sz="1350" b="0" i="0">
                <a:solidFill>
                  <a:srgbClr val="1F2F3D"/>
                </a:solidFill>
              </a:rPr>
              <a:t>• 数据库层面的设计直接支撑上层检索、问答与审计能力。</a:t>
            </a:r>
            <a:endParaRPr sz="1350" b="0" i="0">
              <a:solidFill>
                <a:srgbClr val="1F2F3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0100" y="5581650"/>
            <a:ext cx="10629900" cy="647700"/>
          </a:xfrm>
          <a:prstGeom prst="roundRect">
            <a:avLst>
              <a:gd name="adj" fmla="val 23529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57721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F2F3D"/>
                </a:solidFill>
              </a:defRPr>
            </a:pPr>
            <a:r>
              <a:rPr sz="1650" b="1" i="0">
                <a:solidFill>
                  <a:srgbClr val="1F2F3D"/>
                </a:solidFill>
              </a:rPr>
              <a:t>价值在于：把抽象的 E-R 图、关系模式、SQL 约束和现代智能问答系统真正串成了一条完整链路。</a:t>
            </a:r>
            <a:endParaRPr sz="1650" b="1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66750" y="34290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9ECFF"/>
          </a:solidFill>
          <a:ln w="0">
            <a:solidFill>
              <a:srgbClr val="D9ECFF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6FB9"/>
                </a:solidFill>
              </a:defRPr>
            </a:pPr>
            <a:r>
              <a:rPr sz="1200" b="1">
                <a:solidFill>
                  <a:srgbClr val="2F6FB9"/>
                </a:solidFill>
              </a:rPr>
              <a:t>13</a:t>
            </a:r>
            <a:endParaRPr sz="1200" b="1">
              <a:solidFill>
                <a:srgbClr val="2F6FB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47800" y="32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D7287"/>
                </a:solidFill>
              </a:defRPr>
            </a:pPr>
            <a:r>
              <a:rPr sz="1200" b="1" i="0">
                <a:solidFill>
                  <a:srgbClr val="5D7287"/>
                </a:solidFill>
              </a:rPr>
              <a:t>项目总结</a:t>
            </a:r>
            <a:endParaRPr sz="1200" b="1" i="0">
              <a:solidFill>
                <a:srgbClr val="5D7287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00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14D"/>
                </a:solidFill>
              </a:defRPr>
            </a:pPr>
            <a:r>
              <a:rPr sz="2700" b="1" i="0">
                <a:solidFill>
                  <a:srgbClr val="12314D"/>
                </a:solidFill>
              </a:rPr>
              <a:t>项目总结</a:t>
            </a:r>
            <a:endParaRPr sz="2700" b="1" i="0">
              <a:solidFill>
                <a:srgbClr val="12314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144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D7287"/>
                </a:solidFill>
              </a:defRPr>
            </a:pPr>
            <a:r>
              <a:rPr sz="1500" b="0" i="0">
                <a:solidFill>
                  <a:srgbClr val="5D7287"/>
                </a:solidFill>
              </a:rPr>
              <a:t>从需求分析到数据库设计，再到系统实现与智能扩展，形成完整闭环</a:t>
            </a:r>
            <a:endParaRPr sz="1500" b="0" i="0">
              <a:solidFill>
                <a:srgbClr val="5D728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1924050"/>
            <a:ext cx="32385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圆角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0100" y="19240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2F6FB9"/>
          </a:solidFill>
          <a:ln w="9525">
            <a:solidFill>
              <a:srgbClr val="2F6FB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095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F6FB9"/>
                </a:solidFill>
              </a:defRPr>
            </a:pPr>
            <a:r>
              <a:rPr sz="1725" b="1" i="0">
                <a:solidFill>
                  <a:srgbClr val="2F6FB9"/>
                </a:solidFill>
              </a:rPr>
              <a:t>数据库价值</a:t>
            </a:r>
            <a:endParaRPr sz="1725" b="1" i="0">
              <a:solidFill>
                <a:srgbClr val="2F6FB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90600" y="247650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通过实体关系建模，让知识、用户、行为与问答数据形成统一结构。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通过主外键和中间表，把复杂业务关系表达得清楚且可维护。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19600" y="1924050"/>
            <a:ext cx="34290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19600" y="19240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 w="9525">
            <a:solidFill>
              <a:srgbClr val="1F8A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10100" y="20955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F8A8A"/>
                </a:solidFill>
              </a:defRPr>
            </a:pPr>
            <a:r>
              <a:rPr sz="1725" b="1" i="0">
                <a:solidFill>
                  <a:srgbClr val="1F8A8A"/>
                </a:solidFill>
              </a:rPr>
              <a:t>系统价值</a:t>
            </a:r>
            <a:endParaRPr sz="1725" b="1" i="0">
              <a:solidFill>
                <a:srgbClr val="1F8A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10100" y="247650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前端界面、后端接口和数据库表结构之间形成一一对应关系。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不仅能演示“能用”，还可以解释“为什么这样设计”。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39100" y="1924050"/>
            <a:ext cx="3238500" cy="16764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039100" y="19240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C38D3B"/>
          </a:solidFill>
          <a:ln w="9525">
            <a:solidFill>
              <a:srgbClr val="C38D3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229600" y="2095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C38D3B"/>
                </a:solidFill>
              </a:defRPr>
            </a:pPr>
            <a:r>
              <a:rPr sz="1725" b="1" i="0">
                <a:solidFill>
                  <a:srgbClr val="C38D3B"/>
                </a:solidFill>
              </a:rPr>
              <a:t>扩展价值</a:t>
            </a:r>
            <a:endParaRPr sz="1725" b="1" i="0">
              <a:solidFill>
                <a:srgbClr val="C38D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229600" y="247650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后续可以继续引入触发器、存储过程、权限细化和真实向量检索优化。</a:t>
            </a:r>
            <a:endParaRPr sz="1425" b="0" i="0">
              <a:solidFill>
                <a:srgbClr val="1F2F3D"/>
              </a:solidFill>
            </a:endParaRPr>
          </a:p>
          <a:p>
            <a:pPr algn="l">
              <a:defRPr sz="1425" b="0" i="0">
                <a:solidFill>
                  <a:srgbClr val="1F2F3D"/>
                </a:solidFill>
              </a:defRPr>
            </a:pPr>
            <a:r>
              <a:rPr sz="1425" b="0" i="0">
                <a:solidFill>
                  <a:srgbClr val="1F2F3D"/>
                </a:solidFill>
              </a:rPr>
              <a:t>• 现有架构已经为数据库课程进一步深化提供了稳定基础。</a:t>
            </a:r>
            <a:endParaRPr sz="1425" b="0" i="0">
              <a:solidFill>
                <a:srgbClr val="1F2F3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19150" y="4000500"/>
            <a:ext cx="10572750" cy="1562100"/>
          </a:xfrm>
          <a:prstGeom prst="roundRect">
            <a:avLst>
              <a:gd name="adj" fmla="val 9756"/>
            </a:avLst>
          </a:prstGeom>
          <a:solidFill>
            <a:srgbClr val="FFF9F1"/>
          </a:solidFill>
          <a:ln w="9525">
            <a:solidFill>
              <a:srgbClr val="F8EC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055370" y="414909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F2F3D"/>
                </a:solidFill>
              </a:defRPr>
            </a:pPr>
            <a:r>
              <a:rPr sz="2100" b="1" i="0">
                <a:solidFill>
                  <a:srgbClr val="1F2F3D"/>
                </a:solidFill>
              </a:rPr>
              <a:t>知枢项目把需求分析、E-R 图、关系模式、SQL 落库与智能问答扩展整合成了一个可运行、可解释、可展示的数据库系统课程实践成果。</a:t>
            </a:r>
            <a:endParaRPr sz="2100" b="1" i="0">
              <a:solidFill>
                <a:srgbClr val="1F2F3D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2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3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4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5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6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7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8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9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0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1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2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3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4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5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6.xml><?xml version="1.0" encoding="utf-8"?>
<p:tagLst xmlns:p="http://schemas.openxmlformats.org/presentationml/2006/main">
  <p:tag name="KSO_WM_DIAGRAM_VIRTUALLY_FRAME" val="{&quot;height&quot;:117,&quot;left&quot;:63,&quot;top&quot;:141,&quot;width&quot;:835.5}"/>
</p:tagLst>
</file>

<file path=ppt/tags/tag17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18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19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0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1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2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3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4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5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6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7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ags/tag28.xml><?xml version="1.0" encoding="utf-8"?>
<p:tagLst xmlns:p="http://schemas.openxmlformats.org/presentationml/2006/main">
  <p:tag name="KSO_WM_DIAGRAM_VIRTUALLY_FRAME" val="{&quot;height&quot;:132,&quot;left&quot;:63,&quot;top&quot;:151.5,&quot;width&quot;:8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7532</Words>
  <Application>WPS 演示</Application>
  <PresentationFormat>Converted Presentation</PresentationFormat>
  <Paragraphs>453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邓柯</cp:lastModifiedBy>
  <cp:revision>1</cp:revision>
  <dcterms:created xsi:type="dcterms:W3CDTF">2026-06-24T10:43:26Z</dcterms:created>
  <dcterms:modified xsi:type="dcterms:W3CDTF">2026-06-24T10:43:26Z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D3A0E7C6FC91427B995282D56924A759_12</vt:lpwstr>
  </property>
</Properties>
</file>